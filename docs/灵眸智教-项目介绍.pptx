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5" r:id="rId16"/>
    <p:sldId id="284" r:id="rId17"/>
    <p:sldId id="288" r:id="rId18"/>
    <p:sldId id="269" r:id="rId19"/>
    <p:sldId id="270" r:id="rId20"/>
    <p:sldId id="287" r:id="rId21"/>
    <p:sldId id="272" r:id="rId22"/>
    <p:sldId id="273" r:id="rId23"/>
    <p:sldId id="274" r:id="rId24"/>
    <p:sldId id="275" r:id="rId25"/>
  </p:sldIdLst>
  <p:sldSz cx="12192000" cy="6858000" type="screen4x3"/>
  <p:notesSz cx="6858000" cy="9144000"/>
  <p:custDataLst>
    <p:tags r:id="rId29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23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开场：灵眸智教不是又一个通用聊天框，而是把学科知识库、检索增强、智能体工作流和课程空间做成了一个可运行、可复现、可核查的平台。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五个部分，重点在第三部分功能实现，约占一半时间。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平台的目标不是替人写完，而是把重复劳动压缩、把依据摆出来、把决定权留给师生。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这四项是整场汇报的规模底座，后面所有能力都建立在这上面。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从表现层到基础设施层，依赖只能向下。这样检索与生成能力可以同时被智能体、课程空间和评测脚本复用。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</a:t>
            </a:r>
            <a:r>
              <a:rPr lang="en-US" altLang="zh-CN"/>
              <a:t>“</a:t>
            </a:r>
            <a:r>
              <a:rPr lang="zh-CN" altLang="en-US"/>
              <a:t>为什么快速排序最坏是</a:t>
            </a:r>
            <a:r>
              <a:rPr lang="en-US" altLang="zh-CN"/>
              <a:t> O(n²)”</a:t>
            </a:r>
            <a:r>
              <a:rPr lang="zh-CN" altLang="en-US"/>
              <a:t>为例，五段链路每一步都有输入、输出和留痕。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12 </a:t>
            </a:r>
            <a:r>
              <a:rPr lang="zh-CN" altLang="en-US"/>
              <a:t>个智能体不是共用一个大提示词，而是</a:t>
            </a:r>
            <a:r>
              <a:rPr lang="en-US" altLang="zh-CN"/>
              <a:t> 12 </a:t>
            </a:r>
            <a:r>
              <a:rPr lang="zh-CN" altLang="en-US"/>
              <a:t>条按教学动作编排的工作流。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课程空间把</a:t>
            </a:r>
            <a:r>
              <a:rPr lang="en-US" altLang="zh-CN"/>
              <a:t> AI </a:t>
            </a:r>
            <a:r>
              <a:rPr lang="zh-CN" altLang="en-US"/>
              <a:t>挂到章节、测验和帖子上，生成内容能被师生当场核对。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任务点可追踪完成率，测验由</a:t>
            </a:r>
            <a:r>
              <a:rPr lang="en-US" altLang="zh-CN"/>
              <a:t> AI </a:t>
            </a:r>
            <a:r>
              <a:rPr lang="zh-CN" altLang="en-US"/>
              <a:t>出题并给出教材引用；两张都是课程空间的真实界面。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左边是学生看到的问答界面，右边是教师看到的学情看板；同一个知识库和同一套画像数据支撑两侧。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同一套知识库和智能体，在课堂、课后、备课、教研四个场景里复用；照片仅作场景示意。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知识库流水线每一步都可检查：来源类型、权威度、页码、检索分数、引用编号。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纵轴是相对原实现的加速倍数；</a:t>
            </a:r>
            <a:r>
              <a:rPr lang="en-US" altLang="zh-CN"/>
              <a:t>81 </a:t>
            </a:r>
            <a:r>
              <a:rPr lang="zh-CN" altLang="en-US"/>
              <a:t>块时</a:t>
            </a:r>
            <a:r>
              <a:rPr lang="en-US" altLang="zh-CN"/>
              <a:t> 241 </a:t>
            </a:r>
            <a:r>
              <a:rPr lang="zh-CN" altLang="en-US"/>
              <a:t>倍，</a:t>
            </a:r>
            <a:r>
              <a:rPr lang="en-US" altLang="zh-CN"/>
              <a:t>48,600 </a:t>
            </a:r>
            <a:r>
              <a:rPr lang="zh-CN" altLang="en-US"/>
              <a:t>块时</a:t>
            </a:r>
            <a:r>
              <a:rPr lang="en-US" altLang="zh-CN"/>
              <a:t> 2300 </a:t>
            </a:r>
            <a:r>
              <a:rPr lang="zh-CN" altLang="en-US"/>
              <a:t>倍。绝对值：</a:t>
            </a:r>
            <a:r>
              <a:rPr lang="en-US" altLang="zh-CN"/>
              <a:t>24.1→0.1 ms</a:t>
            </a:r>
            <a:r>
              <a:rPr lang="zh-CN" altLang="en-US"/>
              <a:t>，</a:t>
            </a:r>
            <a:r>
              <a:rPr lang="en-US" altLang="zh-CN"/>
              <a:t>14,032.6→6.1 ms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两组数字分开记录：生成模式与离线基线都是</a:t>
            </a:r>
            <a:r>
              <a:rPr lang="en-US" altLang="zh-CN"/>
              <a:t> 100% </a:t>
            </a:r>
            <a:r>
              <a:rPr lang="zh-CN" altLang="en-US"/>
              <a:t>准确率；引用覆盖率两组都是</a:t>
            </a:r>
            <a:r>
              <a:rPr lang="en-US" altLang="zh-CN"/>
              <a:t> 100%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.xml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image" Target="../media/image27.sv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711200" y="1676400"/>
            <a:ext cx="8128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Kicker"/>
          <p:cNvSpPr txBox="1"/>
          <p:nvPr/>
        </p:nvSpPr>
        <p:spPr>
          <a:xfrm>
            <a:off x="711200" y="13208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4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XH-202620 · </a:t>
            </a:r>
            <a:r>
              <a:rPr lang="zh-CN" altLang="en-US" sz="14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计算机科学与技术</a:t>
            </a:r>
            <a:endParaRPr lang="zh-CN" altLang="en-US" sz="14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711200" y="1930400"/>
            <a:ext cx="7112000" cy="165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44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灵眸智教</a:t>
            </a:r>
            <a:endParaRPr lang="zh-CN" altLang="en-US" sz="44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ubtitle"/>
          <p:cNvSpPr txBox="1"/>
          <p:nvPr/>
        </p:nvSpPr>
        <p:spPr>
          <a:xfrm>
            <a:off x="711200" y="3683000"/>
            <a:ext cx="7112000" cy="88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学科垂类大模型与创新应用平台</a:t>
            </a:r>
            <a:endParaRPr lang="en-US" altLang="zh-CN" sz="18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</a:pPr>
            <a:r>
              <a:rPr lang="zh-CN" altLang="zh-CN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面向《数据结构与算法》的助学</a:t>
            </a:r>
            <a:r>
              <a:rPr lang="en-US" altLang="zh-CN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lang="en-US" altLang="zh-CN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助研一体化平台</a:t>
            </a:r>
            <a:endParaRPr lang="zh-CN" altLang="en-US" sz="18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1200" y="5664200"/>
            <a:ext cx="3098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Meta"/>
          <p:cNvSpPr txBox="1"/>
          <p:nvPr/>
        </p:nvSpPr>
        <p:spPr>
          <a:xfrm>
            <a:off x="711200" y="5791200"/>
            <a:ext cx="5334000" cy="71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项目汇报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截图边框"/>
          <p:cNvSpPr/>
          <p:nvPr/>
        </p:nvSpPr>
        <p:spPr>
          <a:xfrm>
            <a:off x="7937500" y="1651000"/>
            <a:ext cx="3810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ui-home"/>
          <p:cNvPicPr/>
          <p:nvPr/>
        </p:nvPicPr>
        <p:blipFill>
          <a:blip r:embed="rId1"/>
          <a:stretch>
            <a:fillRect/>
          </a:stretch>
        </p:blipFill>
        <p:spPr>
          <a:xfrm>
            <a:off x="8039100" y="1752600"/>
            <a:ext cx="3606800" cy="22479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039100" y="4114800"/>
            <a:ext cx="36068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50">
                <a:solidFill>
                  <a:srgbClr val="6B7A90"/>
                </a:solidFill>
              </a:rPr>
              <a:t>平台真实界面 · 游客模式智能问答</a:t>
            </a:r>
            <a:endParaRPr lang="zh-CN" altLang="en-US" sz="950">
              <a:solidFill>
                <a:srgbClr val="6B7A9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39100" y="4470400"/>
            <a:ext cx="36068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50" b="1">
                <a:solidFill>
                  <a:srgbClr val="1F4E79"/>
                </a:solidFill>
              </a:rPr>
              <a:t>12 个智能体 · 81 个知识块 · 36 项自检</a:t>
            </a:r>
            <a:endParaRPr lang="zh-CN" altLang="en-US" sz="950" b="1">
              <a:solidFill>
                <a:srgbClr val="1F4E79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02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2359025"/>
            <a:ext cx="558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6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26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0000" y="2359025"/>
            <a:ext cx="4622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项目定位：真实痛点与平台边界</a:t>
            </a:r>
            <a:endParaRPr lang="zh-CN" altLang="en-US" sz="198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3349625"/>
            <a:ext cx="558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6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26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0000" y="3349625"/>
            <a:ext cx="4622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系统架构：六层结构与一次问答链路</a:t>
            </a:r>
            <a:endParaRPr lang="zh-CN" altLang="en-US" sz="198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4340225"/>
            <a:ext cx="558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6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26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0000" y="4340225"/>
            <a:ext cx="4622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已实现功能：</a:t>
            </a:r>
            <a:r>
              <a:rPr lang="en-US" altLang="zh-CN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个智能体与课程空间</a:t>
            </a:r>
            <a:endParaRPr lang="zh-CN" altLang="en-US" sz="198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99200" y="2359025"/>
            <a:ext cx="558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6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26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59600" y="2359025"/>
            <a:ext cx="4622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关键技术：混合检索、多模型降级、</a:t>
            </a:r>
            <a:r>
              <a:rPr lang="en-US" altLang="zh-CN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</a:t>
            </a: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endParaRPr lang="zh-CN" altLang="en-US" sz="198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99200" y="3349625"/>
            <a:ext cx="558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6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26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59600" y="3349625"/>
            <a:ext cx="46228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验证与效果：</a:t>
            </a:r>
            <a:r>
              <a:rPr lang="en-US" altLang="zh-CN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 </a:t>
            </a: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项自检与</a:t>
            </a:r>
            <a:r>
              <a:rPr lang="en-US" altLang="zh-CN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 </a:t>
            </a:r>
            <a:r>
              <a:rPr lang="zh-CN" altLang="en-US" sz="19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题评测</a:t>
            </a:r>
            <a:endParaRPr lang="zh-CN" altLang="en-US" sz="198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711200" y="11684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0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altLang="en-US" sz="20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590800"/>
            <a:ext cx="12192000" cy="1676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590800"/>
            <a:ext cx="152400" cy="1676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711200" y="2590800"/>
            <a:ext cx="10769600" cy="167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711200" y="4521200"/>
            <a:ext cx="107696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从真实教学痛点出发，而不是从模型能力出发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04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四类角色，四个高频痛点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9600" y="1985645"/>
            <a:ext cx="257175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12800" y="1985645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Icon people" descr="people-1B3A6B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341245"/>
            <a:ext cx="431800" cy="431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600" y="3001645"/>
            <a:ext cx="206375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教师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3600" y="3484245"/>
            <a:ext cx="2063750" cy="157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备课、批改、学情统计耗时长，主观题口径不一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09950" y="1985645"/>
            <a:ext cx="257175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613150" y="1985645"/>
            <a:ext cx="457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Icon book" descr="book-A63D2F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950" y="2341245"/>
            <a:ext cx="431800" cy="4318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663950" y="3001645"/>
            <a:ext cx="206375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学生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63950" y="3484245"/>
            <a:ext cx="2063750" cy="157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答疑不及时，错题只知答案不知原因，路径缺反馈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10300" y="1985645"/>
            <a:ext cx="257175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413500" y="1985645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Icon search" descr="search-1B3A6B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2341245"/>
            <a:ext cx="431800" cy="4318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464300" y="3001645"/>
            <a:ext cx="206375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科研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64300" y="3484245"/>
            <a:ext cx="2063750" cy="157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文献综述、实验统计、参考文献著录门槛高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010650" y="1985645"/>
            <a:ext cx="257175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213850" y="1985645"/>
            <a:ext cx="457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Icon chart" descr="chart-A63D2F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64650" y="2341245"/>
            <a:ext cx="431800" cy="4318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9264650" y="3001645"/>
            <a:ext cx="206375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教学管理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264650" y="3484245"/>
            <a:ext cx="2063750" cy="157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教学过程难量化，预警滞后，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使用缺留痕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Callout"/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共同特征：高频、依赖学科事实、结果需要被复核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 animBg="1"/>
      <p:bldP spid="12" grpId="0" animBg="1"/>
      <p:bldP spid="14" grpId="0"/>
      <p:bldP spid="15" grpId="0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4" grpId="0"/>
      <p:bldP spid="25" grpId="0"/>
      <p:bldP spid="26" grpId="0" animBg="1"/>
      <p:bldP spid="27" grpId="0" animBg="1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05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一套可运行、可复现、可核查的垂类平台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09600" y="2303145"/>
            <a:ext cx="2476500" cy="635"/>
          </a:xfrm>
          <a:prstGeom prst="line">
            <a:avLst/>
          </a:prstGeom>
          <a:ln w="190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096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助学</a:t>
            </a:r>
            <a:r>
              <a:rPr lang="en-US" altLang="zh-CN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lang="en-US" altLang="zh-CN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助研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类场景</a:t>
            </a:r>
            <a:endParaRPr lang="zh-CN" altLang="en-US" sz="17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441700" y="2303145"/>
            <a:ext cx="2476500" cy="635"/>
          </a:xfrm>
          <a:prstGeom prst="line">
            <a:avLst/>
          </a:prstGeom>
          <a:ln w="19050">
            <a:solidFill>
              <a:srgbClr val="A63D2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4417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可编排智能体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417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en-US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17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273800" y="2303145"/>
            <a:ext cx="2476500" cy="635"/>
          </a:xfrm>
          <a:prstGeom prst="line">
            <a:avLst/>
          </a:prstGeom>
          <a:ln w="190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2738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业务数据表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738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en-US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endParaRPr lang="zh-CN" altLang="en-US" sz="17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9105900" y="2303145"/>
            <a:ext cx="2476500" cy="635"/>
          </a:xfrm>
          <a:prstGeom prst="line">
            <a:avLst/>
          </a:prstGeom>
          <a:ln w="19050">
            <a:solidFill>
              <a:srgbClr val="A63D2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1059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学科知识块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1059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r>
              <a:rPr lang="en-US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</a:t>
            </a:r>
            <a:endParaRPr lang="zh-CN" altLang="en-US" sz="17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9600" y="4347845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38200" y="4208145"/>
            <a:ext cx="10744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助学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个、助教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个、助研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个，均有独立输入、工作流与产出</a:t>
            </a:r>
            <a:endParaRPr lang="zh-CN" altLang="en-US" sz="174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9600" y="4830445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" y="4690745"/>
            <a:ext cx="10744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默认单机离线可跑：无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、无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MySQL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、无外网也能完成全流程</a:t>
            </a:r>
            <a:endParaRPr lang="zh-CN" altLang="en-US" sz="174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9600" y="5313045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38200" y="5173345"/>
            <a:ext cx="10744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每条回答逐句标注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[n]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，可定位到文档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页码</a:t>
            </a:r>
            <a:endParaRPr lang="zh-CN" altLang="en-US" sz="174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711200" y="11684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0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altLang="en-US" sz="20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590800"/>
            <a:ext cx="12192000" cy="1676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590800"/>
            <a:ext cx="152400" cy="1676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711200" y="2590800"/>
            <a:ext cx="10769600" cy="167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711200" y="4521200"/>
            <a:ext cx="107696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六层单向依赖，一次请求穿过检索、生成与核验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07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六层架构，约束依赖方向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397000" y="1727200"/>
            <a:ext cx="6096000" cy="558800"/>
          </a:xfrm>
          <a:prstGeom prst="rect">
            <a:avLst/>
          </a:prstGeom>
          <a:solidFill>
            <a:srgbClr val="EAF2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98600" y="1727200"/>
            <a:ext cx="5892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单页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Web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7000" y="2463800"/>
            <a:ext cx="6096000" cy="558800"/>
          </a:xfrm>
          <a:prstGeom prst="rect">
            <a:avLst/>
          </a:prstGeom>
          <a:solidFill>
            <a:srgbClr val="F7FA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498600" y="2463800"/>
            <a:ext cx="5892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接入层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Flask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Blueprint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97000" y="3200400"/>
            <a:ext cx="6096000" cy="558800"/>
          </a:xfrm>
          <a:prstGeom prst="rect">
            <a:avLst/>
          </a:prstGeom>
          <a:solidFill>
            <a:srgbClr val="EAF2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98600" y="3200400"/>
            <a:ext cx="5892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编排层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12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条智能体工作流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97000" y="3937000"/>
            <a:ext cx="6096000" cy="558800"/>
          </a:xfrm>
          <a:prstGeom prst="rect">
            <a:avLst/>
          </a:prstGeom>
          <a:solidFill>
            <a:srgbClr val="F7FA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498600" y="3937000"/>
            <a:ext cx="5892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能力层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97000" y="4673600"/>
            <a:ext cx="6096000" cy="558800"/>
          </a:xfrm>
          <a:prstGeom prst="rect">
            <a:avLst/>
          </a:prstGeom>
          <a:solidFill>
            <a:srgbClr val="EAF2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498600" y="4673600"/>
            <a:ext cx="5892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24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张表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本地索引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97000" y="5410200"/>
            <a:ext cx="6096000" cy="558800"/>
          </a:xfrm>
          <a:prstGeom prst="rect">
            <a:avLst/>
          </a:prstGeom>
          <a:solidFill>
            <a:srgbClr val="F7FA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498600" y="5410200"/>
            <a:ext cx="5892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基础设施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Ollama / C++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01000" y="1955800"/>
            <a:ext cx="50800" cy="2286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178800" y="1854200"/>
            <a:ext cx="33782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04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设计约束</a:t>
            </a:r>
            <a:endParaRPr lang="zh-CN" altLang="en-US" sz="204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001000" y="26416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280400" y="2489200"/>
            <a:ext cx="3302000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上层只依赖下层，不反向引用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280400" y="3216910"/>
            <a:ext cx="33020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8001000" y="344551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280400" y="3293110"/>
            <a:ext cx="3302000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任一层缺失自动降级，不报</a:t>
            </a:r>
            <a:r>
              <a:rPr lang="en-US" altLang="zh-CN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</a:t>
            </a:r>
            <a:endParaRPr lang="en-US" altLang="zh-CN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8280400" y="4021455"/>
            <a:ext cx="33020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8001000" y="4250055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280400" y="4097655"/>
            <a:ext cx="3302000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同一能力复用于智能体</a:t>
            </a:r>
            <a:r>
              <a:rPr lang="en-US" altLang="zh-CN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</a:t>
            </a:r>
            <a:r>
              <a:rPr lang="en-US" altLang="zh-CN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001000" y="5207000"/>
            <a:ext cx="3581400" cy="8382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001000" y="5207000"/>
            <a:ext cx="50800" cy="8382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229600" y="5207000"/>
            <a:ext cx="32004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依赖方向由代码结构约束，而不是靠约定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箭头连接符 30"/>
          <p:cNvCxnSpPr>
            <a:stCxn id="6" idx="2"/>
            <a:endCxn id="8" idx="0"/>
          </p:cNvCxnSpPr>
          <p:nvPr/>
        </p:nvCxnSpPr>
        <p:spPr>
          <a:xfrm>
            <a:off x="4445000" y="2286000"/>
            <a:ext cx="0" cy="17780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8" idx="2"/>
            <a:endCxn id="10" idx="0"/>
          </p:cNvCxnSpPr>
          <p:nvPr/>
        </p:nvCxnSpPr>
        <p:spPr>
          <a:xfrm>
            <a:off x="4445000" y="3022600"/>
            <a:ext cx="0" cy="17780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" idx="2"/>
            <a:endCxn id="12" idx="0"/>
          </p:cNvCxnSpPr>
          <p:nvPr/>
        </p:nvCxnSpPr>
        <p:spPr>
          <a:xfrm>
            <a:off x="4445000" y="3759200"/>
            <a:ext cx="0" cy="17780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12" idx="2"/>
            <a:endCxn id="14" idx="0"/>
          </p:cNvCxnSpPr>
          <p:nvPr/>
        </p:nvCxnSpPr>
        <p:spPr>
          <a:xfrm>
            <a:off x="4445000" y="4495800"/>
            <a:ext cx="0" cy="17780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4" idx="2"/>
            <a:endCxn id="16" idx="0"/>
          </p:cNvCxnSpPr>
          <p:nvPr/>
        </p:nvCxnSpPr>
        <p:spPr>
          <a:xfrm>
            <a:off x="4445000" y="5232400"/>
            <a:ext cx="0" cy="17780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3" grpId="0" animBg="1"/>
      <p:bldP spid="24" grpId="0"/>
      <p:bldP spid="26" grpId="0" animBg="1"/>
      <p:bldP spid="27" grpId="0"/>
      <p:bldP spid="28" grpId="0" animBg="1"/>
      <p:bldP spid="29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08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一次问答，五段可复核的链路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9600" y="2591435"/>
            <a:ext cx="1930400" cy="26416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62000" y="2362835"/>
            <a:ext cx="457200" cy="457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36283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7400" y="304863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接收与鉴权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7400" y="3759835"/>
            <a:ext cx="1574800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识别身份，学术诚信守卫扫描全字段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2603500" y="381063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70200" y="2591435"/>
            <a:ext cx="1930400" cy="26416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022600" y="2362835"/>
            <a:ext cx="457200" cy="457200"/>
          </a:xfrm>
          <a:prstGeom prst="ellipse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022600" y="236283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48000" y="304863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意图编排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8000" y="3759835"/>
            <a:ext cx="1574800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读会话与画像，指代消解，选择智能体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864100" y="381063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130800" y="2591435"/>
            <a:ext cx="1930400" cy="26416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283200" y="2362835"/>
            <a:ext cx="457200" cy="457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283200" y="236283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08600" y="304863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混合检索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08600" y="3759835"/>
            <a:ext cx="1574800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 +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权威度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7124700" y="381063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391400" y="2591435"/>
            <a:ext cx="1930400" cy="26416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543800" y="2362835"/>
            <a:ext cx="457200" cy="457200"/>
          </a:xfrm>
          <a:prstGeom prst="ellipse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543800" y="236283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569200" y="304863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569200" y="3759835"/>
            <a:ext cx="1574800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Qwen3-VL-8B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；无模型走离线编排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9385300" y="381063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652000" y="2591435"/>
            <a:ext cx="1930400" cy="26416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9804400" y="2362835"/>
            <a:ext cx="457200" cy="457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04400" y="236283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29800" y="304863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核验与落库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29800" y="3759835"/>
            <a:ext cx="1574800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[n]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，剔除未引用来源，写轨迹与埋点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711200" y="11684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0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altLang="en-US" sz="20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590800"/>
            <a:ext cx="12192000" cy="1676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590800"/>
            <a:ext cx="152400" cy="1676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711200" y="2590800"/>
            <a:ext cx="10769600" cy="167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已实现功能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711200" y="4521200"/>
            <a:ext cx="107696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个智能体</a:t>
            </a:r>
            <a:r>
              <a:rPr lang="en-US" altLang="zh-CN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+ 7 </a:t>
            </a: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个课程模块，全部接入真实后端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10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个智能体，按场景分工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9600" y="2092325"/>
            <a:ext cx="35052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12800" y="2092325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Icon book" descr="book-1B3A6B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447925"/>
            <a:ext cx="431800" cy="431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600" y="3108325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助学</a:t>
            </a:r>
            <a:r>
              <a:rPr lang="en-US" altLang="zh-CN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5 </a:t>
            </a: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3600" y="3590925"/>
            <a:ext cx="2997200" cy="1320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智能答疑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学习路径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错题归因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自测练习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复杂问题求解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43400" y="2092325"/>
            <a:ext cx="35052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546600" y="2092325"/>
            <a:ext cx="457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Icon edit" descr="edit-A63D2F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2447925"/>
            <a:ext cx="431800" cy="4318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97400" y="3108325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lang="en-US" altLang="zh-CN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4 </a:t>
            </a: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97400" y="3590925"/>
            <a:ext cx="2997200" cy="1320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智能备课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作业批改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学情诊断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课件素材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077200" y="2092325"/>
            <a:ext cx="35052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280400" y="2092325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Icon search" descr="search-1B3A6B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200" y="2447925"/>
            <a:ext cx="431800" cy="4318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331200" y="3108325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助研</a:t>
            </a:r>
            <a:r>
              <a:rPr lang="en-US" altLang="zh-CN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3 </a:t>
            </a:r>
            <a:r>
              <a:rPr lang="zh-CN" altLang="en-US" sz="210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210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31200" y="3590925"/>
            <a:ext cx="2997200" cy="1320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前沿追踪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学术写作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科研数据分析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Callout"/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每个智能体都有独立输入表单、工作流步骤与产出结构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 animBg="1"/>
      <p:bldP spid="12" grpId="0" animBg="1"/>
      <p:bldP spid="14" grpId="0"/>
      <p:bldP spid="15" grpId="0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11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功能不是聊天框，而是具体教学动作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9600" y="1828800"/>
            <a:ext cx="50800" cy="2286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7400" y="1727200"/>
            <a:ext cx="23749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04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助学</a:t>
            </a:r>
            <a:endParaRPr lang="zh-CN" altLang="en-US" sz="204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5146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9000" y="236220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智能答疑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889000" y="309245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09600" y="332105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89000" y="316865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学习路径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889000" y="389890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09600" y="41275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89000" y="397510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错题归因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889000" y="470535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09600" y="493395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89000" y="478155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自测练习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416300" y="1828800"/>
            <a:ext cx="50800" cy="2286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594100" y="1727200"/>
            <a:ext cx="23749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04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助教</a:t>
            </a:r>
            <a:endParaRPr lang="zh-CN" altLang="en-US" sz="204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16300" y="25146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695700" y="236220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智能备课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3695700" y="309245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416300" y="332105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95700" y="316865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作业批改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695700" y="389890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416300" y="41275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95700" y="397510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学情诊断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3695700" y="470535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416300" y="493395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695700" y="478155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课件素材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223000" y="1828800"/>
            <a:ext cx="50800" cy="2286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400800" y="1727200"/>
            <a:ext cx="23749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04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助研</a:t>
            </a:r>
            <a:endParaRPr lang="zh-CN" altLang="en-US" sz="204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23000" y="25146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502400" y="2362200"/>
            <a:ext cx="2273300" cy="863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前沿追踪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502400" y="327660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223000" y="350520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502400" y="3352800"/>
            <a:ext cx="2273300" cy="863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学术写作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502400" y="426720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6223000" y="44958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502400" y="4343400"/>
            <a:ext cx="2273300" cy="863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科研数据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029700" y="1828800"/>
            <a:ext cx="50800" cy="2286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207500" y="1727200"/>
            <a:ext cx="23749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04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课程空间</a:t>
            </a:r>
            <a:endParaRPr lang="zh-CN" altLang="en-US" sz="204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029700" y="25146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9309100" y="236220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任务点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9309100" y="309245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9029700" y="332105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309100" y="316865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随堂测验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9309100" y="389890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9029700" y="4127500"/>
            <a:ext cx="182245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309100" y="397510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讨论与签到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9309100" y="4705350"/>
            <a:ext cx="22733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9029700" y="4933950"/>
            <a:ext cx="182245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9309100" y="4781550"/>
            <a:ext cx="2273300" cy="679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学情看板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Callout"/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统一底座：知识库检索</a:t>
            </a:r>
            <a:r>
              <a:rPr lang="en-US" altLang="zh-CN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引用核验</a:t>
            </a:r>
            <a:r>
              <a:rPr lang="en-US" altLang="zh-CN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学习画像</a:t>
            </a:r>
            <a:r>
              <a:rPr lang="en-US" altLang="zh-CN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全链路留痕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70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80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85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1" grpId="0" animBg="1"/>
      <p:bldP spid="12" grpId="0"/>
      <p:bldP spid="14" grpId="0" animBg="1"/>
      <p:bldP spid="15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4" grpId="0" animBg="1"/>
      <p:bldP spid="25" grpId="0"/>
      <p:bldP spid="27" grpId="0" animBg="1"/>
      <p:bldP spid="28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7" grpId="0" animBg="1"/>
      <p:bldP spid="38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7" grpId="0" animBg="1"/>
      <p:bldP spid="48" grpId="0"/>
      <p:bldP spid="50" grpId="0" animBg="1"/>
      <p:bldP spid="51" grpId="0"/>
      <p:bldP spid="53" grpId="0" animBg="1"/>
      <p:bldP spid="54" grpId="0"/>
      <p:bldP spid="55" grpId="0" animBg="1"/>
      <p:bldP spid="56" grpId="0" animBg="1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12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课程空间：把</a:t>
            </a:r>
            <a:r>
              <a:rPr lang="en-US" altLang="zh-CN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放进真实教学流程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9600" y="2703195"/>
            <a:ext cx="1930400" cy="23749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62000" y="2474595"/>
            <a:ext cx="457200" cy="457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7459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7400" y="316039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建课与成员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7400" y="3871595"/>
            <a:ext cx="1574800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邀请码加入，课程与角色落库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2603500" y="378904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70200" y="2703195"/>
            <a:ext cx="1930400" cy="23749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022600" y="2474595"/>
            <a:ext cx="457200" cy="457200"/>
          </a:xfrm>
          <a:prstGeom prst="ellipse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022600" y="247459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48000" y="316039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章节任务点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8000" y="3871595"/>
            <a:ext cx="1574800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阅读、完成、累计时长，完成率进统计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864100" y="378904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130800" y="2703195"/>
            <a:ext cx="1930400" cy="23749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283200" y="2474595"/>
            <a:ext cx="457200" cy="457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283200" y="247459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08600" y="316039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导读与出题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08600" y="3871595"/>
            <a:ext cx="1574800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四段式导读，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道单选，带教材引用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7124700" y="378904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391400" y="2703195"/>
            <a:ext cx="1930400" cy="23749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543800" y="2474595"/>
            <a:ext cx="457200" cy="457200"/>
          </a:xfrm>
          <a:prstGeom prst="ellipse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543800" y="247459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569200" y="316039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</a:t>
            </a:r>
            <a:r>
              <a:rPr lang="en-US" altLang="zh-CN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签到</a:t>
            </a:r>
            <a:r>
              <a:rPr lang="en-US" altLang="zh-CN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569200" y="3871595"/>
            <a:ext cx="1574800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助教回帖，</a:t>
            </a:r>
            <a:r>
              <a:rPr lang="en-US" altLang="zh-CN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位码签到，未读提醒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9385300" y="3789045"/>
            <a:ext cx="203200" cy="177800"/>
          </a:xfrm>
          <a:prstGeom prst="rightArrow">
            <a:avLst/>
          </a:prstGeom>
          <a:solidFill>
            <a:srgbClr val="D5D9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652000" y="2703195"/>
            <a:ext cx="1930400" cy="2374900"/>
          </a:xfrm>
          <a:prstGeom prst="rect">
            <a:avLst/>
          </a:prstGeom>
          <a:noFill/>
          <a:ln w="12700" cap="flat" cmpd="sng" algn="ctr">
            <a:solidFill>
              <a:srgbClr val="D5D9E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9804400" y="2474595"/>
            <a:ext cx="457200" cy="457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04400" y="247459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9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9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29800" y="3160395"/>
            <a:ext cx="1574800" cy="66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92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学情看板</a:t>
            </a:r>
            <a:endParaRPr lang="zh-CN" altLang="en-US" sz="192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29800" y="3871595"/>
            <a:ext cx="1574800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完成率、正确率、出勤率</a:t>
            </a:r>
            <a:endParaRPr lang="zh-CN" altLang="en-US" sz="16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Kicker"/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</a:t>
            </a:r>
            <a:r>
              <a:rPr lang="zh-CN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已实现功能</a:t>
            </a:r>
            <a:endParaRPr lang="zh-CN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13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课程空间：任务点与测验，都有据可查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Note"/>
          <p:cNvSpPr txBox="1"/>
          <p:nvPr/>
        </p:nvSpPr>
        <p:spPr>
          <a:xfrm>
            <a:off x="609600" y="64262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截图来自演示课程《数据结构与算法》</a:t>
            </a:r>
            <a:endParaRPr lang="zh-CN" altLang="en-US" sz="10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676400"/>
            <a:ext cx="5384800" cy="3911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ui-chapt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2028724"/>
            <a:ext cx="5130800" cy="320695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97600" y="1676400"/>
            <a:ext cx="5384800" cy="3911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ui-qui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28724"/>
            <a:ext cx="5130800" cy="320695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Callout"/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左：章节任务点　右：随堂测验（</a:t>
            </a:r>
            <a:r>
              <a:rPr lang="en-US" altLang="zh-CN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出题并引用教材）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3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Kicker"/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</a:t>
            </a:r>
            <a:r>
              <a:rPr lang="zh-CN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已实现功能</a:t>
            </a:r>
            <a:endParaRPr lang="zh-CN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14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问答与看板：一屏内完成教与学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Note"/>
          <p:cNvSpPr txBox="1"/>
          <p:nvPr/>
        </p:nvSpPr>
        <p:spPr>
          <a:xfrm>
            <a:off x="609600" y="64262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截图来自本机运行的演示环境</a:t>
            </a:r>
            <a:endParaRPr lang="zh-CN" altLang="en-US" sz="10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676400"/>
            <a:ext cx="5384800" cy="3911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ui-ho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2028724"/>
            <a:ext cx="5130800" cy="320695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97600" y="1676400"/>
            <a:ext cx="5384800" cy="3911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ui-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28724"/>
            <a:ext cx="5130800" cy="320695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Callout"/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左：智能问答与引用　右：学情看板与预警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use-case"/>
          <p:cNvPicPr>
            <a:picLocks noChangeAspect="1"/>
          </p:cNvPicPr>
          <p:nvPr/>
        </p:nvPicPr>
        <p:blipFill>
          <a:blip r:embed="rId1"/>
          <a:srcRect l="617" r="617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711200" y="965200"/>
            <a:ext cx="4673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2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使用场景</a:t>
            </a:r>
            <a:endParaRPr lang="zh-CN" altLang="en-US" sz="132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1200" y="1320800"/>
            <a:ext cx="711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711200" y="1524000"/>
            <a:ext cx="4673600" cy="142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32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四个场景，一套平台接住</a:t>
            </a:r>
            <a:endParaRPr lang="zh-CN" altLang="en-US" sz="32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1200" y="2959100"/>
            <a:ext cx="137160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39800" y="2819400"/>
            <a:ext cx="444500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课堂：教师投屏演示，</a:t>
            </a:r>
            <a:r>
              <a:rPr lang="en-US" altLang="zh-CN" sz="15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生成例题与引用</a:t>
            </a:r>
            <a:endParaRPr lang="zh-CN" altLang="en-US" sz="15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1200" y="3721100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39800" y="3581400"/>
            <a:ext cx="444500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课后：学生自助答疑，错题自动归因</a:t>
            </a:r>
            <a:endParaRPr lang="zh-CN" altLang="en-US" sz="15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1200" y="4483100"/>
            <a:ext cx="137160" cy="25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39800" y="4343400"/>
            <a:ext cx="444500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备课：上传大纲，十分钟产出教案与课件</a:t>
            </a:r>
            <a:endParaRPr lang="zh-CN" altLang="en-US" sz="15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11200" y="5245100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39800" y="5105400"/>
            <a:ext cx="444500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教研：按班级看学情，定位共性薄弱点</a:t>
            </a:r>
            <a:endParaRPr lang="zh-CN" altLang="en-US" sz="15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16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知识库不是黑盒：从文档到引用的五步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62000" y="2413000"/>
            <a:ext cx="1879600" cy="1168400"/>
          </a:xfrm>
          <a:prstGeom prst="rect">
            <a:avLst/>
          </a:prstGeom>
          <a:solidFill>
            <a:srgbClr val="EAF2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130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zh-CN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教材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zh-CN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59100" y="2413000"/>
            <a:ext cx="1879600" cy="1168400"/>
          </a:xfrm>
          <a:prstGeom prst="rect">
            <a:avLst/>
          </a:prstGeom>
          <a:solidFill>
            <a:srgbClr val="F7FA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060700" y="24130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DOCX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XLSX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56200" y="2413000"/>
            <a:ext cx="1879600" cy="1168400"/>
          </a:xfrm>
          <a:prstGeom prst="rect">
            <a:avLst/>
          </a:prstGeom>
          <a:solidFill>
            <a:srgbClr val="EAF2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57800" y="24130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 700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zh-CN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保留页码</a:t>
            </a:r>
            <a:endParaRPr lang="zh-CN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353300" y="2413000"/>
            <a:ext cx="1879600" cy="1168400"/>
          </a:xfrm>
          <a:prstGeom prst="rect">
            <a:avLst/>
          </a:prstGeom>
          <a:solidFill>
            <a:srgbClr val="F7FA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454900" y="24130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 +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zh-CN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</a:t>
            </a:r>
            <a:endParaRPr lang="zh-CN" altLang="en-US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550400" y="2413000"/>
            <a:ext cx="1879600" cy="1168400"/>
          </a:xfrm>
          <a:prstGeom prst="rect">
            <a:avLst/>
          </a:prstGeom>
          <a:solidFill>
            <a:srgbClr val="EAF2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652000" y="24130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zh-CN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逐句</a:t>
            </a:r>
            <a:r>
              <a:rPr lang="en-US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[n]</a:t>
            </a:r>
            <a:endParaRPr lang="en-US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</a:pPr>
            <a:r>
              <a:rPr lang="zh-CN" altLang="zh-CN" sz="15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原文可展开</a:t>
            </a:r>
            <a:endParaRPr lang="zh-CN" altLang="zh-CN" sz="15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2000" y="4038600"/>
            <a:ext cx="107696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份文档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81 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个知识块　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 + 512 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维向量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+ 6 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类规则　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文档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</a:t>
            </a:r>
            <a:r>
              <a:rPr lang="en-US" altLang="zh-CN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8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页码</a:t>
            </a:r>
            <a:endParaRPr lang="zh-CN" altLang="en-US" sz="168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4826000"/>
            <a:ext cx="10769600" cy="7874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62000" y="4826000"/>
            <a:ext cx="50800" cy="787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90600" y="4826000"/>
            <a:ext cx="10388600" cy="787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引用核验：剔除不存在的</a:t>
            </a:r>
            <a:r>
              <a:rPr lang="en-US" altLang="zh-CN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[n]</a:t>
            </a: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，未被引用的来源不返回；前端可展开原文片段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箭头连接符 19"/>
          <p:cNvCxnSpPr>
            <a:stCxn id="6" idx="3"/>
            <a:endCxn id="8" idx="1"/>
          </p:cNvCxnSpPr>
          <p:nvPr/>
        </p:nvCxnSpPr>
        <p:spPr>
          <a:xfrm>
            <a:off x="2641600" y="2997200"/>
            <a:ext cx="317500" cy="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8" idx="3"/>
            <a:endCxn id="10" idx="1"/>
          </p:cNvCxnSpPr>
          <p:nvPr/>
        </p:nvCxnSpPr>
        <p:spPr>
          <a:xfrm>
            <a:off x="4838700" y="2997200"/>
            <a:ext cx="317500" cy="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0" idx="3"/>
            <a:endCxn id="12" idx="1"/>
          </p:cNvCxnSpPr>
          <p:nvPr/>
        </p:nvCxnSpPr>
        <p:spPr>
          <a:xfrm>
            <a:off x="7035800" y="2997200"/>
            <a:ext cx="317500" cy="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2" idx="3"/>
            <a:endCxn id="14" idx="1"/>
          </p:cNvCxnSpPr>
          <p:nvPr/>
        </p:nvCxnSpPr>
        <p:spPr>
          <a:xfrm>
            <a:off x="9232900" y="2997200"/>
            <a:ext cx="317500" cy="0"/>
          </a:xfrm>
          <a:prstGeom prst="straightConnector1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/>
      <p:bldP spid="17" grpId="0" animBg="1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711200" y="11684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0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altLang="en-US" sz="20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590800"/>
            <a:ext cx="12192000" cy="1676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590800"/>
            <a:ext cx="152400" cy="1676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711200" y="2590800"/>
            <a:ext cx="10769600" cy="167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711200" y="4521200"/>
            <a:ext cx="107696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混合检索、多模型降级、</a:t>
            </a:r>
            <a:r>
              <a:rPr lang="en-US" altLang="zh-CN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</a:t>
            </a: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内核与</a:t>
            </a:r>
            <a:r>
              <a:rPr lang="en-US" altLang="zh-CN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LoRA </a:t>
            </a: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Kicker"/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</a:t>
            </a:r>
            <a:r>
              <a:rPr lang="zh-CN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lang="zh-CN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18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万块知识库，检索快</a:t>
            </a:r>
            <a:r>
              <a:rPr lang="en-US" altLang="zh-CN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2300 </a:t>
            </a: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Note"/>
          <p:cNvSpPr txBox="1"/>
          <p:nvPr/>
        </p:nvSpPr>
        <p:spPr>
          <a:xfrm>
            <a:off x="609600" y="64262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知识块数（个）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加速比；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 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24.1→0.1 ms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48,600 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14,032.6→6.1 ms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条查询</a:t>
            </a:r>
            <a:r>
              <a:rPr lang="en-US" altLang="zh-CN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top-10 </a:t>
            </a:r>
            <a:r>
              <a:rPr lang="zh-CN" altLang="en-US" sz="10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逐位等价</a:t>
            </a:r>
            <a:endParaRPr lang="zh-CN" altLang="en-US" sz="10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17600" y="5969000"/>
            <a:ext cx="10363200" cy="635"/>
          </a:xfrm>
          <a:prstGeom prst="line">
            <a:avLst/>
          </a:prstGeom>
          <a:ln w="1270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09600" y="5867400"/>
            <a:ext cx="4318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1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en-US" sz="11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17600" y="5156200"/>
            <a:ext cx="103632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09600" y="5054600"/>
            <a:ext cx="4318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1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500</a:t>
            </a:r>
            <a:endParaRPr lang="en-US" altLang="en-US" sz="11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117600" y="4343400"/>
            <a:ext cx="103632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09600" y="4241800"/>
            <a:ext cx="4318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1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1000</a:t>
            </a:r>
            <a:endParaRPr lang="en-US" altLang="en-US" sz="11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17600" y="3530600"/>
            <a:ext cx="103632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09600" y="3429000"/>
            <a:ext cx="4318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1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1500</a:t>
            </a:r>
            <a:endParaRPr lang="en-US" altLang="en-US" sz="11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117600" y="2717800"/>
            <a:ext cx="103632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09600" y="2616200"/>
            <a:ext cx="4318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1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2000</a:t>
            </a:r>
            <a:endParaRPr lang="en-US" altLang="en-US" sz="11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117600" y="1905000"/>
            <a:ext cx="10363200" cy="635"/>
          </a:xfrm>
          <a:prstGeom prst="line">
            <a:avLst/>
          </a:prstGeom>
          <a:ln w="635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09600" y="1803400"/>
            <a:ext cx="4318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14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2500</a:t>
            </a:r>
            <a:endParaRPr lang="en-US" altLang="en-US" sz="114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17600" y="6032500"/>
            <a:ext cx="2072005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81</a:t>
            </a:r>
            <a:endParaRPr lang="en-US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89605" y="6032500"/>
            <a:ext cx="2072005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810</a:t>
            </a:r>
            <a:endParaRPr lang="en-US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62245" y="6032500"/>
            <a:ext cx="2072005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4,860</a:t>
            </a:r>
            <a:endParaRPr lang="en-US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34885" y="6032500"/>
            <a:ext cx="2072005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16,200</a:t>
            </a:r>
            <a:endParaRPr lang="en-US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407525" y="6032500"/>
            <a:ext cx="2072005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48,600</a:t>
            </a:r>
            <a:endParaRPr lang="en-US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19885" y="5577205"/>
            <a:ext cx="1066800" cy="391795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442085" y="5374005"/>
            <a:ext cx="14224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241</a:t>
            </a:r>
            <a:endParaRPr lang="en-US" altLang="en-US" sz="12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692525" y="4117340"/>
            <a:ext cx="1066800" cy="185166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514725" y="3914140"/>
            <a:ext cx="14224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1139</a:t>
            </a:r>
            <a:endParaRPr lang="en-US" altLang="en-US" sz="12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65800" y="2780665"/>
            <a:ext cx="1066800" cy="3188335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588000" y="2577465"/>
            <a:ext cx="14224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1961</a:t>
            </a:r>
            <a:endParaRPr lang="en-US" altLang="en-US" sz="12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838440" y="1927225"/>
            <a:ext cx="1066800" cy="4041775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660640" y="1724025"/>
            <a:ext cx="14224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2486</a:t>
            </a:r>
            <a:endParaRPr lang="en-US" altLang="en-US" sz="12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911080" y="2230120"/>
            <a:ext cx="1066800" cy="373888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733280" y="2026920"/>
            <a:ext cx="14224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altLang="en-US" sz="12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2300</a:t>
            </a:r>
            <a:endParaRPr lang="en-US" altLang="en-US" sz="12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Kicker"/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</a:t>
            </a:r>
            <a:r>
              <a:rPr lang="zh-CN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lang="zh-CN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19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技术选型：先保证任何机器都能跑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09600" y="1676400"/>
            <a:ext cx="35052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12800" y="1676400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Icon layers" descr="layers-1B3A6B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1930400"/>
            <a:ext cx="330200" cy="330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63600" y="2413000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Flask + SQLAlchemy</a:t>
            </a:r>
            <a:endParaRPr lang="en-US" altLang="en-US" sz="186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3600" y="2794000"/>
            <a:ext cx="2997200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</a:t>
            </a:r>
            <a:r>
              <a:rPr lang="en-US" altLang="zh-CN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Blueprint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自动降级</a:t>
            </a:r>
            <a:endParaRPr lang="zh-CN" altLang="en-US" sz="15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43400" y="1676400"/>
            <a:ext cx="35052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546600" y="1676400"/>
            <a:ext cx="457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Icon search" descr="search-A63D2F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1930400"/>
            <a:ext cx="330200" cy="3302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597400" y="2413000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混合检索</a:t>
            </a:r>
            <a:endParaRPr lang="zh-CN" altLang="en-US" sz="186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97400" y="2794000"/>
            <a:ext cx="2997200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 + 512 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维向量</a:t>
            </a:r>
            <a:r>
              <a:rPr lang="en-US" altLang="zh-CN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规则加权</a:t>
            </a:r>
            <a:endParaRPr lang="zh-CN" altLang="en-US" sz="15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77200" y="1676400"/>
            <a:ext cx="35052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280400" y="1676400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Icon bolt" descr="bolt-1B3A6B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200" y="1930400"/>
            <a:ext cx="330200" cy="3302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331200" y="2413000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本机生成</a:t>
            </a:r>
            <a:endParaRPr lang="zh-CN" altLang="en-US" sz="186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31200" y="2794000"/>
            <a:ext cx="2997200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Ollama + Qwen3-VL-8B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，离线可编排</a:t>
            </a:r>
            <a:endParaRPr lang="zh-CN" altLang="en-US" sz="15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9600" y="3746500"/>
            <a:ext cx="35052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12800" y="3746500"/>
            <a:ext cx="457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Icon code" descr="code-A63D2F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600" y="4000500"/>
            <a:ext cx="330200" cy="3302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63600" y="4483100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C++17 </a:t>
            </a:r>
            <a:r>
              <a:rPr lang="zh-CN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endParaRPr lang="zh-CN" altLang="en-US" sz="186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63600" y="4864100"/>
            <a:ext cx="2997200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ctypes 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调用，失败自动回退</a:t>
            </a:r>
            <a:endParaRPr lang="zh-CN" altLang="en-US" sz="15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43400" y="3746500"/>
            <a:ext cx="35052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546600" y="3746500"/>
            <a:ext cx="457200" cy="508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Icon eye" descr="eye-1B3A6B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7400" y="4000500"/>
            <a:ext cx="330200" cy="3302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597400" y="4483100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多模态</a:t>
            </a:r>
            <a:endParaRPr lang="zh-CN" altLang="en-US" sz="186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97400" y="4864100"/>
            <a:ext cx="2997200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Word / Excel / 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图片直读</a:t>
            </a:r>
            <a:endParaRPr lang="zh-CN" altLang="en-US" sz="15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77200" y="3746500"/>
            <a:ext cx="35052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9E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8280400" y="3746500"/>
            <a:ext cx="4572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Icon target" descr="target-A63D2F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31200" y="4000500"/>
            <a:ext cx="330200" cy="3302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8331200" y="4483100"/>
            <a:ext cx="2997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860" b="1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QLoRA</a:t>
            </a:r>
            <a:endParaRPr lang="en-US" altLang="en-US" sz="1860" b="1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331200" y="4864100"/>
            <a:ext cx="2997200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r=16 / α=32</a:t>
            </a:r>
            <a:r>
              <a:rPr lang="zh-CN" altLang="en-US" sz="15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，学科适配可选</a:t>
            </a:r>
            <a:endParaRPr lang="zh-CN" altLang="en-US" sz="15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Callout"/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62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模型、数据库、检索内核、可选依赖，任一层缺失都不影响功能验收</a:t>
            </a:r>
            <a:endParaRPr lang="zh-CN" altLang="en-US" sz="162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  <p:bldP spid="11" grpId="0"/>
      <p:bldP spid="12" grpId="0" animBg="1"/>
      <p:bldP spid="13" grpId="0" animBg="1"/>
      <p:bldP spid="15" grpId="0"/>
      <p:bldP spid="16" grpId="0"/>
      <p:bldP spid="17" grpId="0" animBg="1"/>
      <p:bldP spid="18" grpId="0" animBg="1"/>
      <p:bldP spid="20" grpId="0"/>
      <p:bldP spid="21" grpId="0"/>
      <p:bldP spid="22" grpId="0" animBg="1"/>
      <p:bldP spid="23" grpId="0" animBg="1"/>
      <p:bldP spid="25" grpId="0"/>
      <p:bldP spid="26" grpId="0"/>
      <p:bldP spid="27" grpId="0" animBg="1"/>
      <p:bldP spid="28" grpId="0" animBg="1"/>
      <p:bldP spid="30" grpId="0"/>
      <p:bldP spid="31" grpId="0"/>
      <p:bldP spid="32" grpId="0" animBg="1"/>
      <p:bldP spid="33" grpId="0" animBg="1"/>
      <p:bldP spid="35" grpId="0"/>
      <p:bldP spid="36" grpId="0"/>
      <p:bldP spid="37" grpId="0" animBg="1"/>
      <p:bldP spid="38" grpId="0" animBg="1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711200" y="11684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20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PART 05</a:t>
            </a:r>
            <a:endParaRPr lang="en-US" altLang="en-US" sz="20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590800"/>
            <a:ext cx="12192000" cy="1676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590800"/>
            <a:ext cx="152400" cy="1676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711200" y="2590800"/>
            <a:ext cx="10769600" cy="167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验证与效果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711200" y="4521200"/>
            <a:ext cx="107696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6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</a:rPr>
              <a:t>数字来自自检脚本、评测报告与数据库统计</a:t>
            </a:r>
            <a:endParaRPr lang="zh-CN" altLang="en-US" sz="186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Kicker"/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</a:t>
            </a:r>
            <a:r>
              <a:rPr lang="zh-CN" altLang="en-US" sz="126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验证与效果</a:t>
            </a:r>
            <a:endParaRPr lang="zh-CN" altLang="en-US" sz="126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Number"/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8000"/>
              </a:lnSpc>
            </a:pPr>
            <a:r>
              <a:rPr lang="en-US" altLang="en-US" sz="120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21 / 22</a:t>
            </a:r>
            <a:endParaRPr lang="en-US" altLang="en-US" sz="120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7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效果可复算：自检、评测、规模化数据</a:t>
            </a:r>
            <a:endParaRPr lang="zh-CN" altLang="en-US" sz="27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1498600"/>
            <a:ext cx="10972800" cy="635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9600" y="2303145"/>
            <a:ext cx="2476500" cy="635"/>
          </a:xfrm>
          <a:prstGeom prst="line">
            <a:avLst/>
          </a:prstGeom>
          <a:ln w="190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096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题综合准确率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altLang="en-US" sz="42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441700" y="2303145"/>
            <a:ext cx="2476500" cy="635"/>
          </a:xfrm>
          <a:prstGeom prst="line">
            <a:avLst/>
          </a:prstGeom>
          <a:ln w="19050">
            <a:solidFill>
              <a:srgbClr val="A63D2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4417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引用覆盖率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417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altLang="en-US" sz="42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273800" y="2303145"/>
            <a:ext cx="2476500" cy="635"/>
          </a:xfrm>
          <a:prstGeom prst="line">
            <a:avLst/>
          </a:prstGeom>
          <a:ln w="19050">
            <a:solidFill>
              <a:srgbClr val="1B3A6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2738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关键词平均召回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738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88.9%</a:t>
            </a:r>
            <a:endParaRPr lang="en-US" altLang="en-US" sz="42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9105900" y="2303145"/>
            <a:ext cx="2476500" cy="635"/>
          </a:xfrm>
          <a:prstGeom prst="line">
            <a:avLst/>
          </a:prstGeom>
          <a:ln w="19050">
            <a:solidFill>
              <a:srgbClr val="A63D2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105900" y="244284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38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</a:rPr>
              <a:t>端到端自检</a:t>
            </a:r>
            <a:endParaRPr lang="zh-CN" altLang="en-US" sz="138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05900" y="2760345"/>
            <a:ext cx="247650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8000"/>
              </a:lnSpc>
            </a:pPr>
            <a:r>
              <a:rPr lang="en-US" altLang="en-US" sz="42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 </a:t>
            </a:r>
            <a:r>
              <a:rPr lang="zh-CN" altLang="en-US" sz="4200" b="1">
                <a:solidFill>
                  <a:srgbClr val="A63D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altLang="en-US" sz="4200" b="1">
              <a:solidFill>
                <a:srgbClr val="A63D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9600" y="4347845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38200" y="4208145"/>
            <a:ext cx="10744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27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项课程空间自检；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题生成模式平均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38.3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lang="zh-CN" altLang="en-US" sz="174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09600" y="4830445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38200" y="4690745"/>
            <a:ext cx="10744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演示库：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名学生、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次作业、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196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份提交、平均分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74.5</a:t>
            </a:r>
            <a:endParaRPr lang="en-US" altLang="zh-CN" sz="174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9600" y="5313045"/>
            <a:ext cx="137160" cy="254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38200" y="5173345"/>
            <a:ext cx="10744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已知边界：</a:t>
            </a:r>
            <a:r>
              <a:rPr lang="en-US" altLang="zh-CN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 </a:t>
            </a:r>
            <a:r>
              <a:rPr lang="zh-CN" altLang="en-US" sz="174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名学生与课程行为为脚本生成的演示数据</a:t>
            </a:r>
            <a:endParaRPr lang="zh-CN" altLang="en-US" sz="174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6985000" y="-1524000"/>
            <a:ext cx="6350000" cy="6350000"/>
          </a:xfrm>
          <a:prstGeom prst="ellipse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969500" y="3937000"/>
            <a:ext cx="3048000" cy="3048000"/>
          </a:xfrm>
          <a:prstGeom prst="ellipse">
            <a:avLst/>
          </a:prstGeom>
          <a:solidFill>
            <a:srgbClr val="1B3A6B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747000" y="3810000"/>
            <a:ext cx="1905000" cy="1905000"/>
          </a:xfrm>
          <a:prstGeom prst="ellipse">
            <a:avLst/>
          </a:prstGeom>
          <a:noFill/>
          <a:ln w="19050">
            <a:solidFill>
              <a:srgbClr val="A63D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1200" y="2413000"/>
            <a:ext cx="812800" cy="50800"/>
          </a:xfrm>
          <a:prstGeom prst="rect">
            <a:avLst/>
          </a:prstGeom>
          <a:solidFill>
            <a:srgbClr val="A63D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itle"/>
          <p:cNvSpPr txBox="1"/>
          <p:nvPr/>
        </p:nvSpPr>
        <p:spPr>
          <a:xfrm>
            <a:off x="711200" y="2667000"/>
            <a:ext cx="7112000" cy="165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3600" b="1">
                <a:solidFill>
                  <a:srgbClr val="1B3A6B"/>
                </a:solidFill>
                <a:latin typeface="微软雅黑" panose="020B0503020204020204" charset="-122"/>
                <a:ea typeface="微软雅黑" panose="020B0503020204020204" charset="-122"/>
              </a:rPr>
              <a:t>让每一条结论，都能回到教材的某一页</a:t>
            </a:r>
            <a:endParaRPr lang="zh-CN" altLang="en-US" sz="3600" b="1">
              <a:solidFill>
                <a:srgbClr val="1B3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ubtitle"/>
          <p:cNvSpPr txBox="1"/>
          <p:nvPr/>
        </p:nvSpPr>
        <p:spPr>
          <a:xfrm>
            <a:off x="711200" y="4445000"/>
            <a:ext cx="7112000" cy="88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灵眸智教</a:t>
            </a:r>
            <a:r>
              <a:rPr lang="en-US" altLang="zh-CN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学科垂类大模型与创新应用平台</a:t>
            </a:r>
            <a:endParaRPr lang="en-US" altLang="zh-CN" sz="18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</a:pPr>
            <a:r>
              <a:rPr lang="zh-CN" altLang="zh-CN" sz="1800">
                <a:solidFill>
                  <a:srgbClr val="1B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谢谢，欢迎提问与指正</a:t>
            </a:r>
            <a:endParaRPr lang="zh-CN" altLang="zh-CN" sz="1800">
              <a:solidFill>
                <a:srgbClr val="1B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ags/tag1.xml><?xml version="1.0" encoding="utf-8"?>
<p:tagLst xmlns:p="http://schemas.openxmlformats.org/presentationml/2006/main">
  <p:tag name="DSHKIND" val="cover"/>
</p:tagLst>
</file>

<file path=ppt/tags/tag2.xml><?xml version="1.0" encoding="utf-8"?>
<p:tagLst xmlns:p="http://schemas.openxmlformats.org/presentationml/2006/main">
  <p:tag name="DSHKIND" val="agenda"/>
</p:tagLst>
</file>

<file path=ppt/tags/tag3.xml><?xml version="1.0" encoding="utf-8"?>
<p:tagLst xmlns:p="http://schemas.openxmlformats.org/presentationml/2006/main">
  <p:tag name="DSHKIND" val="section"/>
</p:tagLst>
</file>

<file path=ppt/tags/tag4.xml><?xml version="1.0" encoding="utf-8"?>
<p:tagLst xmlns:p="http://schemas.openxmlformats.org/presentationml/2006/main">
  <p:tag name="DSHKIND" val="cards"/>
</p:tagLst>
</file>

<file path=ppt/tags/tag5.xml><?xml version="1.0" encoding="utf-8"?>
<p:tagLst xmlns:p="http://schemas.openxmlformats.org/presentationml/2006/main">
  <p:tag name="DSHKIND" val="stats"/>
</p:tagLst>
</file>

<file path=ppt/tags/tag6.xml><?xml version="1.0" encoding="utf-8"?>
<p:tagLst xmlns:p="http://schemas.openxmlformats.org/presentationml/2006/main">
  <p:tag name="DSHKIND" val="section"/>
</p:tagLst>
</file>

<file path=ppt/tags/tag7.xml><?xml version="1.0" encoding="utf-8"?>
<p:tagLst xmlns:p="http://schemas.openxmlformats.org/presentationml/2006/main">
  <p:tag name="DSHKIND" val="canvas"/>
</p:tagLst>
</file>

<file path=ppt/tags/tag8.xml><?xml version="1.0" encoding="utf-8"?>
<p:tagLst xmlns:p="http://schemas.openxmlformats.org/presentationml/2006/main">
  <p:tag name="DSHKIND" val="process"/>
</p:tagLst>
</file>

<file path=ppt/tags/tag9.xml><?xml version="1.0" encoding="utf-8"?>
<p:tagLst xmlns:p="http://schemas.openxmlformats.org/presentationml/2006/main">
  <p:tag name="DSHKIND" val="section"/>
</p:tagLst>
</file>

<file path=ppt/tags/tag10.xml><?xml version="1.0" encoding="utf-8"?>
<p:tagLst xmlns:p="http://schemas.openxmlformats.org/presentationml/2006/main">
  <p:tag name="DSHKIND" val="cards"/>
</p:tagLst>
</file>

<file path=ppt/tags/tag11.xml><?xml version="1.0" encoding="utf-8"?>
<p:tagLst xmlns:p="http://schemas.openxmlformats.org/presentationml/2006/main">
  <p:tag name="DSHKIND" val="grid"/>
</p:tagLst>
</file>

<file path=ppt/tags/tag12.xml><?xml version="1.0" encoding="utf-8"?>
<p:tagLst xmlns:p="http://schemas.openxmlformats.org/presentationml/2006/main">
  <p:tag name="DSHKIND" val="process"/>
</p:tagLst>
</file>

<file path=ppt/tags/tag13.xml><?xml version="1.0" encoding="utf-8"?>
<p:tagLst xmlns:p="http://schemas.openxmlformats.org/presentationml/2006/main">
  <p:tag name="DSHKIND" val="gallery"/>
</p:tagLst>
</file>

<file path=ppt/tags/tag14.xml><?xml version="1.0" encoding="utf-8"?>
<p:tagLst xmlns:p="http://schemas.openxmlformats.org/presentationml/2006/main">
  <p:tag name="DSHKIND" val="gallery"/>
</p:tagLst>
</file>

<file path=ppt/tags/tag15.xml><?xml version="1.0" encoding="utf-8"?>
<p:tagLst xmlns:p="http://schemas.openxmlformats.org/presentationml/2006/main">
  <p:tag name="DSHKIND" val="split"/>
</p:tagLst>
</file>

<file path=ppt/tags/tag16.xml><?xml version="1.0" encoding="utf-8"?>
<p:tagLst xmlns:p="http://schemas.openxmlformats.org/presentationml/2006/main">
  <p:tag name="DSHKIND" val="canvas"/>
</p:tagLst>
</file>

<file path=ppt/tags/tag17.xml><?xml version="1.0" encoding="utf-8"?>
<p:tagLst xmlns:p="http://schemas.openxmlformats.org/presentationml/2006/main">
  <p:tag name="DSHKIND" val="section"/>
</p:tagLst>
</file>

<file path=ppt/tags/tag18.xml><?xml version="1.0" encoding="utf-8"?>
<p:tagLst xmlns:p="http://schemas.openxmlformats.org/presentationml/2006/main">
  <p:tag name="DSHKIND" val="chart"/>
</p:tagLst>
</file>

<file path=ppt/tags/tag19.xml><?xml version="1.0" encoding="utf-8"?>
<p:tagLst xmlns:p="http://schemas.openxmlformats.org/presentationml/2006/main">
  <p:tag name="DSHKIND" val="cards"/>
</p:tagLst>
</file>

<file path=ppt/tags/tag20.xml><?xml version="1.0" encoding="utf-8"?>
<p:tagLst xmlns:p="http://schemas.openxmlformats.org/presentationml/2006/main">
  <p:tag name="DSHKIND" val="section"/>
</p:tagLst>
</file>

<file path=ppt/tags/tag21.xml><?xml version="1.0" encoding="utf-8"?>
<p:tagLst xmlns:p="http://schemas.openxmlformats.org/presentationml/2006/main">
  <p:tag name="DSHKIND" val="stats"/>
</p:tagLst>
</file>

<file path=ppt/tags/tag22.xml><?xml version="1.0" encoding="utf-8"?>
<p:tagLst xmlns:p="http://schemas.openxmlformats.org/presentationml/2006/main">
  <p:tag name="DSHKIND" val="closing"/>
</p:tagLst>
</file>

<file path=ppt/tags/tag23.xml><?xml version="1.0" encoding="utf-8"?>
<p:tagLst xmlns:p="http://schemas.openxmlformats.org/presentationml/2006/main">
  <p:tag name="DSHTHEME" val="{&quot;Name&quot;:&quot;academic&quot;,&quot;Bg&quot;:&quot;#FFFFFF&quot;,&quot;Surface&quot;:&quot;#F2F4F7&quot;,&quot;Text&quot;:&quot;#1B1F24&quot;,&quot;Muted&quot;:&quot;#667085&quot;,&quot;Primary&quot;:&quot;#1B3A6B&quot;,&quot;Accent&quot;:&quot;#A63D2F&quot;,&quot;Line&quot;:&quot;#D5D9E0&quot;,&quot;TitleFont&quot;:&quot;微软雅黑&quot;,&quot;BodyFont&quot;:&quot;微软雅黑&quot;,&quot;Dark&quot;:false,&quot;Transition&quot;:&quot;fade&quot;,&quot;Animate&quot;:true,&quot;Texture&quot;:&quot;&quot;,&quot;Section&quot;:&quot;band&quot;,&quot;Corners&quot;:&quot;square&quot;,&quot;Cards&quot;:&quot;outline&quot;,&quot;Marks&quot;:&quot;dash&quot;,&quot;Chrome&quot;:&quot;&quot;,&quot;Author&quot;:&quot;&quot;,&quot;Talk&quot;:&quot;&quot;,&quot;Base&quot;:0,&quot;Area&quot;:null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2535</Words>
  <Application>WPS 演示</Application>
  <PresentationFormat/>
  <Paragraphs>436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 TAO</dc:creator>
  <cp:lastModifiedBy>HUTAO</cp:lastModifiedBy>
  <cp:revision>6</cp:revision>
  <dcterms:created xsi:type="dcterms:W3CDTF">2026-10-29T10:29:51Z</dcterms:created>
  <dcterms:modified xsi:type="dcterms:W3CDTF">2026-10-29T11:16:25Z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2ED9AC7E15C3401DA16FEF25062EB196_13</vt:lpwstr>
  </property>
</Properties>
</file>