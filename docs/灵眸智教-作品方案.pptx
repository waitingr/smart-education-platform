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各知识点平均分（真实作业成绩聚合）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平均分</c:v>
                </c:pt>
              </c:strCache>
            </c:strRef>
          </c:tx>
          <c:spPr>
            <a:solidFill>
              <a:srgbClr val="0E7490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复杂度与
排序稳定性</c:v>
                </c:pt>
                <c:pt idx="1">
                  <c:v>图：最短路径</c:v>
                </c:pt>
                <c:pt idx="2">
                  <c:v>二叉树：
遍历与性质</c:v>
                </c:pt>
                <c:pt idx="3">
                  <c:v>哈希与查找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71.2</c:v>
                </c:pt>
                <c:pt idx="1">
                  <c:v>74.0</c:v>
                </c:pt>
                <c:pt idx="2">
                  <c:v>74.7</c:v>
                </c:pt>
                <c:pt idx="3">
                  <c:v>77.1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5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1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" cy="13716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129844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DD3E6"/>
                </a:solidFill>
                <a:latin typeface="微软雅黑"/>
                <a:ea typeface="微软雅黑"/>
                <a:cs typeface="微软雅黑"/>
              </a:rPr>
              <a:t>XH-202620 · 面向一流学科建设的学科垂类大模型与创新应用开发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64208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灵眸智教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78608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BE8F2"/>
                </a:solidFill>
                <a:latin typeface="微软雅黑"/>
                <a:ea typeface="微软雅黑"/>
                <a:cs typeface="微软雅黑"/>
              </a:rPr>
              <a:t>讲得对 · 查得到 · 能复核的学科助教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计算机科学与技术学科 · 课程载体《数据结构与算法》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12 个可编排智能体，覆盖 助学 / 助教 / 助研 全场景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9768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98448" y="4443984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67E8F9"/>
                </a:solidFill>
                <a:latin typeface="微软雅黑"/>
                <a:ea typeface="微软雅黑"/>
                <a:cs typeface="微软雅黑"/>
              </a:rPr>
              <a:t>可编排智能体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88289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29768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47288" y="4443984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67E8F9"/>
                </a:solidFill>
                <a:latin typeface="微软雅黑"/>
                <a:ea typeface="微软雅黑"/>
                <a:cs typeface="微软雅黑"/>
              </a:rPr>
              <a:t>引用覆盖率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88289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429768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96128" y="4443984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67E8F9"/>
                </a:solidFill>
                <a:latin typeface="微软雅黑"/>
                <a:ea typeface="微软雅黑"/>
                <a:cs typeface="微软雅黑"/>
              </a:rPr>
              <a:t>项自检全通过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8289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29768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1B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44968" y="4443984"/>
            <a:ext cx="1554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67E8F9"/>
                </a:solidFill>
                <a:latin typeface="微软雅黑"/>
                <a:ea typeface="微软雅黑"/>
                <a:cs typeface="微软雅黑"/>
              </a:rPr>
              <a:t>学生规模化验证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488289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D8FA8"/>
                </a:solidFill>
                <a:latin typeface="微软雅黑"/>
                <a:ea typeface="微软雅黑"/>
                <a:cs typeface="微软雅黑"/>
              </a:rPr>
              <a:t>参赛团队：（团队名称）    指导教师：（待填）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一、作品阐述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通用大模型在专业课上，错得很有说服力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我们先把「不可信」这件事量化：三类高频错误，学生几乎无法自查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6596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86384" y="1965960"/>
            <a:ext cx="3520440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结论错而不自知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542032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问「快速排序最坏时间复杂度」，通用模型常答 O(n log n)。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正确是 O(n²)——序列基本有序且固定取首元素为基准时退化。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39502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· 被问到的是「最坏」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96596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489704" y="1965960"/>
            <a:ext cx="3520440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45736" y="217627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概念张冠李戴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542032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问「时间复杂度」，答的却是「空间复杂度」那一段。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同章节、同术语，只差两个字，向量检索照样命中。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39502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· 时间 ↔ 空间 混淆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96596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93023" y="1965960"/>
            <a:ext cx="3520440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49055" y="217627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给不出出处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5" y="2542032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结论看似合理，但翻遍教材找不到对应原文。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学生无法核验，教师不敢采用，最后退化成「随便问问」。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39502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· 引用是空的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4663440"/>
            <a:ext cx="10607040" cy="12344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60704" y="480974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78350F"/>
                </a:solidFill>
                <a:latin typeface="微软雅黑"/>
                <a:ea typeface="微软雅黑"/>
                <a:cs typeface="微软雅黑"/>
              </a:rPr>
              <a:t>这三个问题，恰恰是教学场景里最不能容忍的三件事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517550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92400E"/>
                </a:solidFill>
                <a:latin typeface="微软雅黑"/>
                <a:ea typeface="微软雅黑"/>
                <a:cs typeface="微软雅黑"/>
              </a:rPr>
              <a:t>结论错 → 学生学错；概念错 → 越学越乱；无出处 → 教师无法背书。所以我们要做的不是「更会说话的模型」，而是「讲得对、查得到、能复核」的助教。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一、作品阐述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三根支柱，把「可信」做成工程约束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不是文档里的承诺，而是每次回答都要过的三道关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2084831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0D8E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48716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学科知识库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871216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11 篇 / 81 块结构化文档，教材·标准·大纲·案例·论文五类来源，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每块带权威度(1–5)、作者、年份、页码。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42793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→ 事实从哪来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45736" y="2084831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0D8E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248716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可编排工作流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871216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12 个智能体 = 12 条带分支的工作流：检索 → 计算 → 生成 → 引用核验 → 轨迹留痕。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42793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→ 答案怎么来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49055" y="2084831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0D8E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5" y="2487168"/>
            <a:ext cx="3017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引用可追溯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5" y="2871216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每个 [n] 都定位到「文档 · 章节 · 页码」，点开即见原文；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未使用的引用会被自动剔除。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42793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→ 凭什么信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4956048"/>
            <a:ext cx="10607040" cy="960120"/>
          </a:xfrm>
          <a:prstGeom prst="roundRect">
            <a:avLst>
              <a:gd name="adj" fmla="val 5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60704" y="51206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关键取舍：宁可说「知识库未覆盖」，也不编造。没有 GPU、没有外网时自动切「离线检索模式」，并在界面顶部显式标注——不假装大模型在思考。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二、功能思路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三场景闭环：助学 · 助教 · 助研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每个智能体都不是一句提示词，而是一条带步骤与分支的工作流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874519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86384" y="1874519"/>
            <a:ext cx="3520440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60704" y="196596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助学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984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个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6" y="2633472"/>
            <a:ext cx="91440" cy="914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" y="2542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智能答疑（多轮 + 指代消解）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" y="3236976"/>
            <a:ext cx="91440" cy="914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43584" y="31455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学习路径规划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" y="3840479"/>
            <a:ext cx="91440" cy="914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错题归因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" y="4443983"/>
            <a:ext cx="91440" cy="914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43584" y="435254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自测练习</a:t>
            </a:r>
          </a:p>
        </p:txBody>
      </p:sp>
      <p:sp>
        <p:nvSpPr>
          <p:cNvPr id="22" name="Oval 21"/>
          <p:cNvSpPr/>
          <p:nvPr/>
        </p:nvSpPr>
        <p:spPr>
          <a:xfrm>
            <a:off x="1042416" y="5047488"/>
            <a:ext cx="91440" cy="914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43584" y="495604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复杂问题求解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9704" y="1874519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489704" y="1874519"/>
            <a:ext cx="3520440" cy="4754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764024" y="196596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助教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4" y="1984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个</a:t>
            </a:r>
          </a:p>
        </p:txBody>
      </p:sp>
      <p:sp>
        <p:nvSpPr>
          <p:cNvPr id="28" name="Oval 27"/>
          <p:cNvSpPr/>
          <p:nvPr/>
        </p:nvSpPr>
        <p:spPr>
          <a:xfrm>
            <a:off x="4745736" y="2633472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46904" y="2542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智能备课</a:t>
            </a:r>
          </a:p>
        </p:txBody>
      </p:sp>
      <p:sp>
        <p:nvSpPr>
          <p:cNvPr id="30" name="Oval 29"/>
          <p:cNvSpPr/>
          <p:nvPr/>
        </p:nvSpPr>
        <p:spPr>
          <a:xfrm>
            <a:off x="4745736" y="323697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46904" y="31455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作业与试题批改</a:t>
            </a:r>
          </a:p>
        </p:txBody>
      </p:sp>
      <p:sp>
        <p:nvSpPr>
          <p:cNvPr id="32" name="Oval 31"/>
          <p:cNvSpPr/>
          <p:nvPr/>
        </p:nvSpPr>
        <p:spPr>
          <a:xfrm>
            <a:off x="4745736" y="384047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46904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学情精准诊断</a:t>
            </a:r>
          </a:p>
        </p:txBody>
      </p:sp>
      <p:sp>
        <p:nvSpPr>
          <p:cNvPr id="34" name="Oval 33"/>
          <p:cNvSpPr/>
          <p:nvPr/>
        </p:nvSpPr>
        <p:spPr>
          <a:xfrm>
            <a:off x="4745736" y="444398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946904" y="435254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课件素材生成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93023" y="1874519"/>
            <a:ext cx="352044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93023" y="1874519"/>
            <a:ext cx="3520440" cy="47548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67344" y="196596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助研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7584" y="1984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个</a:t>
            </a:r>
          </a:p>
        </p:txBody>
      </p:sp>
      <p:sp>
        <p:nvSpPr>
          <p:cNvPr id="40" name="Oval 39"/>
          <p:cNvSpPr/>
          <p:nvPr/>
        </p:nvSpPr>
        <p:spPr>
          <a:xfrm>
            <a:off x="8449055" y="2633472"/>
            <a:ext cx="91440" cy="9144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650224" y="25420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前沿追踪</a:t>
            </a:r>
          </a:p>
        </p:txBody>
      </p:sp>
      <p:sp>
        <p:nvSpPr>
          <p:cNvPr id="42" name="Oval 41"/>
          <p:cNvSpPr/>
          <p:nvPr/>
        </p:nvSpPr>
        <p:spPr>
          <a:xfrm>
            <a:off x="8449055" y="3236976"/>
            <a:ext cx="91440" cy="9144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50224" y="31455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学术写作辅助</a:t>
            </a:r>
          </a:p>
        </p:txBody>
      </p:sp>
      <p:sp>
        <p:nvSpPr>
          <p:cNvPr id="44" name="Oval 43"/>
          <p:cNvSpPr/>
          <p:nvPr/>
        </p:nvSpPr>
        <p:spPr>
          <a:xfrm>
            <a:off x="8449055" y="3840479"/>
            <a:ext cx="91440" cy="91440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50224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科研数据分析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5961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同一套引擎、同一套引用规则：换学科只需换知识库与提示词模板，工作流骨架不变。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二、功能思路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课程空间：把 AI 接进真实教学流程（仿学习通）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只做聊天框，学生用完就走；真实课堂有组织形态——课程、任务点、测验、讨论、签到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828800"/>
            <a:ext cx="35204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课程 / 任务点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40864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建课、邀请码加入、8 章 7 个任务点、学习时长入库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017520"/>
            <a:ext cx="2743200" cy="27432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33856" y="307238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AI 课前导读 · 带 [n] 引用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1828800"/>
            <a:ext cx="35204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27448" y="199339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随堂测验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340864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按章节出 3–8 道单选，提交即判分、逐题解析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3017520"/>
            <a:ext cx="2743200" cy="27432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37176" y="307238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AI 命题 + 解析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828800"/>
            <a:ext cx="35204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30767" y="1993392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讨论区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2340864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发帖后 AI 助教自动回帖，学生可继续追问老师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30767" y="3017520"/>
            <a:ext cx="2743200" cy="27432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540496" y="307238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AI 助教 · ≤200 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3584448"/>
            <a:ext cx="35204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4128" y="3749039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096512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教师发起 4 位码（10 分钟有效），签到率实时进学情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4773168"/>
            <a:ext cx="2743200" cy="2743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33856" y="48280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规则校验，不用模型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9704" y="3584448"/>
            <a:ext cx="35204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27448" y="3749039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4096512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发布 / 置顶 / 未读红点 / 标记已读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27448" y="4773168"/>
            <a:ext cx="2743200" cy="274320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37176" y="48280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规则逻辑，不用模型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3023" y="3584448"/>
            <a:ext cx="35204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30767" y="3749039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学情看板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7" y="4096512"/>
            <a:ext cx="3063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个人与班级两套口径 + 预警名单（&lt;60% / &lt;60% / &lt;80%）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30767" y="4773168"/>
            <a:ext cx="2743200" cy="27432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540496" y="4828032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AI 学情建议 · 只依据给定数字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544068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AI 只用在该用的地方：4 处生成（导读 / 出题 / 助教回帖 / 学情建议）都挂「模型名 + 耗时」徽标，判分与签到不走模型。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77900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边界说清楚：课程空间的 55 名学生与作答/签到记录是脚本生成的演示数据（结果确定、可复现），不代表真实教学行为。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二、功能思路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一次答疑，六个可核查的环节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评审可以在界面上逐段看到「它做了什么、依据是什么」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011680"/>
            <a:ext cx="17007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① 多轮理解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50592"/>
            <a:ext cx="1417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接上文、消歧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「那它呢」→ 快速排序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517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15184" y="2011680"/>
            <a:ext cx="17007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779776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② 查询清洗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2450592"/>
            <a:ext cx="1417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剥离「什么/哪些/如何」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只留学科术语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6517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3984" y="2011680"/>
            <a:ext cx="17007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08576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③ 混合检索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450592"/>
            <a:ext cx="1417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BM25 + 向量 + 覆盖率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+ 短语 + 权威度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6517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2011680"/>
            <a:ext cx="17007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37376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④ 学科消歧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450592"/>
            <a:ext cx="1417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时间↔空间 / 实体一致性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时间题不拿空间段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6517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2011680"/>
            <a:ext cx="17007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66175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⑤ 结构化生成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450592"/>
            <a:ext cx="1417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结论 → 原文摘录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→ 再想一想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6517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0384" y="2011680"/>
            <a:ext cx="170078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94976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⑥ 引用核验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4976" y="2450592"/>
            <a:ext cx="1417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未命中编号剔除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命中 x/y 条写进轨迹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" y="388620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42415" y="40050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输出长什么样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" y="4297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一句话结论（带 [n]） ┃ 知识原文摘录 + 「出处：图论基础与最短路径 · 最短路径」 ┃ 再想一想（启发式追问）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5138928"/>
            <a:ext cx="5230368" cy="960120"/>
          </a:xfrm>
          <a:prstGeom prst="roundRect">
            <a:avLst>
              <a:gd name="adj" fmla="val 5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5840" y="5285232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轨迹（trace）不是日志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5595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每一步的输入、命中数、耗时都对评审可见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5138928"/>
            <a:ext cx="5230368" cy="9601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82512" y="5285232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78350F"/>
                </a:solidFill>
                <a:latin typeface="微软雅黑"/>
                <a:ea typeface="微软雅黑"/>
                <a:cs typeface="微软雅黑"/>
              </a:rPr>
              <a:t>引用不是装饰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5595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2400E"/>
                </a:solidFill>
                <a:latin typeface="微软雅黑"/>
                <a:ea typeface="微软雅黑"/>
                <a:cs typeface="微软雅黑"/>
              </a:rPr>
              <a:t>生成时只用检索到的材料，用完还要回头核对编号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三、技术方案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学科消歧：通用检索看不出的「差两个字」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同一批问题，纯向量检索 vs 本平台检索的首条命中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965960"/>
            <a:ext cx="10607040" cy="42062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" y="2066543"/>
            <a:ext cx="3419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66543"/>
            <a:ext cx="274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纯向量检索首条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2066543"/>
            <a:ext cx="3621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本平台首条命中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2386584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" y="2569464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快速排序的「最坏时间复杂度」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9464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×  空间复杂度章节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5694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✓  时间复杂度章节 + 排序总表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044952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BFC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3227832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「二叉排序树」退化成链表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27832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×  哈希表章节（同属查找结构）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322783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✓   BST 章节 + 平衡树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370332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388620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建堆为什么是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86200"/>
            <a:ext cx="2743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×  堆排序流程章节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38862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✓  树与二叉树 · 堆与优先队列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2245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五层打分，逐层收紧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4572000"/>
            <a:ext cx="2011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4663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BM25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95604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中文二元组，精确术语命中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79" y="4572000"/>
            <a:ext cx="2011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072384" y="4663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哈希向量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2384" y="495604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512 维，近似语义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5776" y="4572000"/>
            <a:ext cx="2011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12080" y="4663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覆盖率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95604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idf 加权，防「碰一个词就上位」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5472" y="4572000"/>
            <a:ext cx="2011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51775" y="4663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短语命中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495604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连续 n-gram 是强相关信号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45167" y="4572000"/>
            <a:ext cx="2011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491472" y="4663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权威度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4956048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教材 &gt; 案例 &gt; 网文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" y="5650992"/>
            <a:ext cx="10607040" cy="457200"/>
          </a:xfrm>
          <a:prstGeom prst="roundRect">
            <a:avLst>
              <a:gd name="adj" fmla="val 8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5840" y="5742432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在此之上再加两道学科规则：成对概念消歧（12 组）+ 实体一致性（30+ 算法与结构）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三、技术方案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「可追溯」的具体形态：一张引用卡片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回答里的 [2] 点开后，看到的就是下面这些信息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672084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0482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回答正文（节选）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6263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一句话结论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注意循环顺序必须是 k 在最外层，且 k 表示「允许经过的中间顶点集合逐步扩大」，顺序写错会得到错误结果。 [2]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知识原文摘录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……注意循环顺序必须是 k 在最外层，且 k 表示「允许经过的中间顶点集合逐步扩大」，顺序写错会得到错误结果。 [2]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出处：图论基础与最短路径 · 最短路径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920240"/>
            <a:ext cx="3666744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55279" y="20482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引用 [2] 详情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9572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968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图论基础与最短路径 · 最短路径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4436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原文片段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14553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注意循环顺序必须是 k 在最外层……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9300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来源类型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69417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教材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04164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权威度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24281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★★★★★ (5/5)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59028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相关度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91455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0.87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138928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作者/年份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3400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严蔚敏 等 ·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989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同一套 locator 规则贯穿：答疑、批改、诊断、写作——凡是给结论，就给得出处。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三、技术方案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架构：一条请求经过的五层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每层都可独立替换，也都能在没有 GPU / 没有外网的机器上跑通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874519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74519"/>
            <a:ext cx="8558784" cy="658368"/>
          </a:xfrm>
          <a:prstGeom prst="roundRect">
            <a:avLst>
              <a:gd name="adj" fmla="val 6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54096" y="2057400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原生 JS + Tailwind，Flask 同源托管（无 CORS、无跨域 Cookie 问题）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2660903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43784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2660903"/>
            <a:ext cx="85587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54096" y="284378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Flask 蓝图：鉴权 / 资源 / 聊天（含 SSE 流式）/ 智能体 / 知识库 / 评测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447287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630168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工作流引擎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447287"/>
            <a:ext cx="85587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054096" y="3630168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声明式注册 → 检索 → 工具 → 条件分支 → 引用核验 → 轨迹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233672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416552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检索与生成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233672"/>
            <a:ext cx="85587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054096" y="4416552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KB 混合检索（BM25 + 向量 + 消歧）｜ LLM 客户端（本地 / 星火 / OpenAI / 离线）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020056"/>
            <a:ext cx="1920240" cy="65836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202936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5020056"/>
            <a:ext cx="8558784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54096" y="5202936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MySQL（首选）/ SQLite（自动降级）；会话·画像·反馈·埋点·评测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5870448"/>
            <a:ext cx="1060704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5840" y="594360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零重型依赖启动：不装 torch 也能完整演示；装了 sentence-transformers 自动升级为语义向量后端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三、技术方案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模型接入与学科微调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四后端可切换，微调链路可复现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874519"/>
            <a:ext cx="539496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四种推理后端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ollama（默认）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30428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本机 Qwen3-VL-8B，能识图 · 不出网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7121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871216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自备 HuggingFace 权重（纯文本，LLM_MODEL_PATH 指过去才启用）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3814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spark /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38144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星火或任意 OpenAI 兼容网关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050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05072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知识库原文结构化编排 + 显式标识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874519"/>
            <a:ext cx="502920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0" y="197510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LoRA / SFT 链路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0428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build_dataset.py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3042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知识库章节 + 种子问答 → Alpaca 指令集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7121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train_lora.py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871216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QLoRA r=16 / α=32 / 7 投影层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38144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只学回答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438144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chat template + assistant 段 mask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005072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merge 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00507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合并权重，供 backend 直接加载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828032"/>
            <a:ext cx="106070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05840" y="49377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为什么微调不是「先决条件」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48656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检索负责「事实」，微调负责「表达与规范」。没有微调，靠 RAG + 引用核验也能给出可核查的答案；有微调，则更贴合课程口径（术语、复杂度标注习惯、评分话术）。所以我们把两条路都做出来，且互不阻塞。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三、技术方案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个性化：画像驱动的四个环节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同一问题，入门与提高两种画像，输出的深度与风格不同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32004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学习画像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478024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07008" y="23957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知识水平：入门 / 进阶 / 提高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990088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7008" y="290779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学习目标：应试 / 项目 / 科研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502152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8" y="341985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表达风格：均衡 / 简洁 / 启发 / 案例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014216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3931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讲解深度：1–5 级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4526280"/>
            <a:ext cx="82296" cy="8229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44439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薄弱点：自动累计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920240"/>
            <a:ext cx="7077456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35424" y="2029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答疑深度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322576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入门先讲类比与直觉，提高直接上复杂度与变式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2770632"/>
            <a:ext cx="7077456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35424" y="28803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路径规划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172968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按周拆解的学习阶段与资源清单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621024"/>
            <a:ext cx="7077456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35424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练习推荐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402336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按掌握度选择基础题 / 迁移题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4471416"/>
            <a:ext cx="7077456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35424" y="4581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错题归因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4873752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按薄弱点选择追问角度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" y="54406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" y="5541264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8350F"/>
                </a:solidFill>
                <a:latin typeface="微软雅黑"/>
                <a:ea typeface="微软雅黑"/>
                <a:cs typeface="微软雅黑"/>
              </a:rPr>
              <a:t>薄弱点由「作业得分 + 提问主题」共同聚合，可查看、可编辑，不做黑箱画像。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四、运行效果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实测：36 项自检全通过，12 题准确率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本机 Qwen3-VL-8B 生成与看图（RTX 4060 8GB，全本地不出网）；无模型时自动回落离线基线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2011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" y="202996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871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12 题准确率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920240"/>
            <a:ext cx="2011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27248" y="202996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93.8%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4871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关键词平均召回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920240"/>
            <a:ext cx="2011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85232" y="202996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≈38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4871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单题本机耗时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920240"/>
            <a:ext cx="2011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43216" y="202996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5.8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4871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本机模型权重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19" y="1920240"/>
            <a:ext cx="2011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199" y="2029968"/>
            <a:ext cx="1691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36 /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24871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端到端自检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86384" y="3063240"/>
          <a:ext cx="5943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949440" y="3063240"/>
            <a:ext cx="4443984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68896" y="31729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规模化使用（真实库统计）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49300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学生账号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493008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55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8896" y="39319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作业 / 提交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93192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4 次 / 196 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4370831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已批改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370831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178 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480974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平均分 / 提交率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80974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74.5 分 / 89.1%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524865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覆盖口径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24865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满足 ≥50 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8896" y="561441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注：演示数据由脚本生成，非真实自然人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四、运行效果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三个典型案例，三种「可信」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每个案例都能现场复现，输出与出处一并对得上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04825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案例一 · 概念辨析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40864"/>
            <a:ext cx="3063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Floyd 三重循环为何 k 在最外层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017520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结论：k 表示「允许经过的中间顶点集合逐步扩大」，顺序写错即错。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核对：结论 / 原因 / 复杂度 / 适用条件 四项与教材一致，引用可点开原段。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4791456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70432" y="49011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关键词召回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9704" y="192024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27448" y="204825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案例二 · 主观题批改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340864"/>
            <a:ext cx="3063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快速排序排序 + 复杂度说明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017520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机器建议分 7.1 / 10，人工 7 分，误差 0.1。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三条扣分依据（未分最好/最坏、空间漏算递归栈、基准选择）与人工判断一一对应。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27448" y="4791456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73752" y="49011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批改耗时 3 分钟 → 20 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92024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30767" y="204825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案例三 · 学情诊断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340864"/>
            <a:ext cx="3063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全班 55 人、178 份已批改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3017520"/>
            <a:ext cx="3063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薄弱点由真实成绩聚合：复杂度与排序 71.2 分最低（不及格率 14.6%）。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每个数字可回库核对，不是模型"猜"的。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0767" y="4791456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77072" y="49011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0B5A70"/>
                </a:solidFill>
                <a:latin typeface="微软雅黑"/>
                <a:ea typeface="微软雅黑"/>
                <a:cs typeface="微软雅黑"/>
              </a:rPr>
              <a:t>统计耗时 半天 → 3 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6692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三个案例的共同点：结论可对答案、过程可看轨迹、出处可点开——这也是评审现场最容易被验证的部分。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五、可复制与可推广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换一个学科，只改三个变量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代码零改动；知识库与提示词是唯二的学科资产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2024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204825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DD3E6"/>
                </a:solidFill>
                <a:latin typeface="微软雅黑"/>
                <a:ea typeface="微软雅黑"/>
                <a:cs typeface="微软雅黑"/>
              </a:rPr>
              <a:t>换学科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CBE8F2"/>
                </a:solidFill>
                <a:latin typeface="微软雅黑"/>
                <a:ea typeface="微软雅黑"/>
                <a:cs typeface="微软雅黑"/>
              </a:rPr>
              <a:t>DISCIPLINE_NAME = "临床医学"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CBE8F2"/>
                </a:solidFill>
                <a:latin typeface="微软雅黑"/>
                <a:ea typeface="微软雅黑"/>
                <a:cs typeface="微软雅黑"/>
              </a:rPr>
              <a:t>DISCIPLINE_COURSE = "内科学"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CBE8F2"/>
                </a:solidFill>
                <a:latin typeface="微软雅黑"/>
                <a:ea typeface="微软雅黑"/>
                <a:cs typeface="微软雅黑"/>
              </a:rPr>
              <a:t>KB_DOC_DIR = "data/kb_medicine"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FB4CC"/>
                </a:solidFill>
                <a:latin typeface="微软雅黑"/>
                <a:ea typeface="微软雅黑"/>
                <a:cs typeface="微软雅黑"/>
              </a:rPr>
              <a:t>再点一次「重建索引」即完成迁移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920240"/>
            <a:ext cx="5248656" cy="1152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64224" y="20482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为什么能复制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35915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工作流骨架（检索→计算→生成→核验）与学科无关；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学科差异只体现在知识库与提示词模板。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18688"/>
            <a:ext cx="5248656" cy="1152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64224" y="33467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为什么能推广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657600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零重型依赖：无 GPU / 无外网 / 无 MySQL 均可运行；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一条命令启动，评审核验成本极低。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4517136"/>
            <a:ext cx="5248656" cy="1152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4224" y="4645151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规模化已验证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95604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55 名学生 / 4 次作业 / 196 份提交 / 240+ 使用事件，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看板实时可查，满足 ≥50 人加分口径。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279392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成本估算（单学科一年）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3659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知识库建设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73659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教师 20–40 小时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023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部署与运维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1023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1 台 8C16G 服务器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6811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模型调用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46811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本地部署时零边际成本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73152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E7490"/>
                </a:solidFill>
                <a:latin typeface="微软雅黑"/>
                <a:ea typeface="微软雅黑"/>
                <a:cs typeface="微软雅黑"/>
              </a:rPr>
              <a:t>六、迭代计划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8638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下一步：从「课程级」走到「学科级」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已经跑通的继续加固，尚未覆盖的明确排期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5508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灵眸智教 · 学科垂类大模型与创新应用平台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01952"/>
            <a:ext cx="1371600" cy="544982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6112" y="2046427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901952"/>
            <a:ext cx="9107424" cy="5449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505456" y="197510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2026 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212848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三场景 12 智能体 · 知识库与引用溯源 · 评测闭环 · 36 项自检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2593238"/>
            <a:ext cx="1371600" cy="5449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2737713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已交付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593238"/>
            <a:ext cx="9107424" cy="5449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05456" y="266639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2026 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2904134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生成本机 Qwen3-VL-8B（识图 + 读文档）· 课程空间（任务点/测验/讨论/签到/学情）如何把 AI 接进课堂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3284524"/>
            <a:ext cx="1371600" cy="5449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6112" y="342900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近期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284524"/>
            <a:ext cx="9107424" cy="5449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05456" y="335767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2027 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456" y="359542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知识库扩到教材全文与论文库 · 同义词扩展提召回 · 课程空间接推理队列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3975811"/>
            <a:ext cx="1371600" cy="5449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96112" y="412028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中期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3975811"/>
            <a:ext cx="9107424" cy="5449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505456" y="4048963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2027 H1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5456" y="4286707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多课程多学科租户化 · 批量批改与作业分发 · 学习行为驱动自适应推题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4667097"/>
            <a:ext cx="1371600" cy="5449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96112" y="481157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远期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4667097"/>
            <a:ext cx="9107424" cy="5449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05456" y="4740249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2027 H2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4977993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对接教务系统（课表/成绩）· 校级私有化部署 · 跨学科知识图谱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" y="5468112"/>
            <a:ext cx="106070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42415" y="5596128"/>
            <a:ext cx="10058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BE8F2"/>
                </a:solidFill>
                <a:latin typeface="微软雅黑"/>
                <a:ea typeface="微软雅黑"/>
                <a:cs typeface="微软雅黑"/>
              </a:rPr>
              <a:t>现场可验证：问一个易混问题看引用 · 提交一段"编造数据"看拦截 · 点开看板跑一次 12 题评测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